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AI-Powered Medication Allergen Safety — a Clinical Decision 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9A23B"/>
                </a:solidFill>
                <a:latin typeface="Calibri"/>
              </a:rPr>
              <a:t>The remedy, brought in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947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E9A23B"/>
                </a:solidFill>
                <a:latin typeface="Calibri"/>
              </a:rPr>
              <a:t>33M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Americans with food allergies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65760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7947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E9A23B"/>
                </a:solidFill>
                <a:latin typeface="Calibri"/>
              </a:rPr>
              <a:t>44.86%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3891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of 42,052 oral medications contain dairy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65760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E9A23B"/>
                </a:solidFill>
                <a:latin typeface="Calibri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3891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of adult anaphylaxis historically 'idiopathic'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Ushasree Jakilinki  ·  Aspiring Health Data Scientist  ·  University of Michigan, M.S. Applied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My Story — The Patient Nobody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March 2025. Severe abdominal pain — so debilitating I could barely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6766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ECF0F7"/>
                </a:solidFill>
                <a:latin typeface="Calibri"/>
              </a:rPr>
              <a:t>•  My dairy anaphylaxis was documented everywhere — MyChart, pharmacy records, my allergist's notes.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ECF0F7"/>
                </a:solidFill>
                <a:latin typeface="Calibri"/>
              </a:rPr>
              <a:t>•  A medication containing a dairy-derived excipient was still dispensed to me. No system checked.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ECF0F7"/>
                </a:solidFill>
                <a:latin typeface="Calibri"/>
              </a:rPr>
              <a:t>•  I suffered from March to July — physically, mentally, and financially.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ECF0F7"/>
                </a:solidFill>
                <a:latin typeface="Calibri"/>
              </a:rPr>
              <a:t>•  The insurance claims came to roughly $30,000 — PCPs, GI, allergist, procedures.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ECF0F7"/>
                </a:solidFill>
                <a:latin typeface="Calibri"/>
              </a:rPr>
              <a:t>•  I found the cause myself, by reading ingredient lists nobody else had read.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371600"/>
            <a:ext cx="4434840" cy="20116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371600"/>
            <a:ext cx="64008" cy="20116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53619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The larger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CF0F7"/>
                </a:solidFill>
                <a:latin typeface="Calibri"/>
              </a:rPr>
              <a:t>The data was always there. The system simply failed to connect it. Patients are left to navigate dangerous gaps between EHRs, prescribers, and pharmacies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749039"/>
            <a:ext cx="210312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3858768"/>
            <a:ext cx="18287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4+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7" y="4407407"/>
            <a:ext cx="18836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months of avoidable suffering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3749039"/>
            <a:ext cx="210312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858768"/>
            <a:ext cx="18287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$30K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8088" y="4407407"/>
            <a:ext cx="18836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in insurance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Problem — Allergens Hiding in Medications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Medications routinely contain top-9 food allergens as inactive ingredients. Nobody is checking.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5852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ECF0F7"/>
                </a:solidFill>
                <a:latin typeface="Calibri"/>
              </a:rPr>
              <a:t>•  Lactose and starch are common binders; soy and egg derivatives appear across drug classes.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ECF0F7"/>
                </a:solidFill>
                <a:latin typeface="Calibri"/>
              </a:rPr>
              <a:t>•  Prescribers and pharmacists have no tool that cross-checks excipients against a patient's documented allergies.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ECF0F7"/>
                </a:solidFill>
                <a:latin typeface="Calibri"/>
              </a:rPr>
              <a:t>•  Patients are told to “call the manufacturer” — a toll-free dead end.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ECF0F7"/>
                </a:solidFill>
                <a:latin typeface="Calibri"/>
              </a:rPr>
              <a:t>•  Reactions get labeled “idiopathic” because nobody checks the ingredient list.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ECF0F7"/>
                </a:solidFill>
                <a:latin typeface="Calibri"/>
              </a:rPr>
              <a:t>•  Labeling law hasn't caught up: the ADINA Act (born from Adina Togal's reaction to an unlisted allergen in her antibiotic) is proposed — not yet law.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5349240" cy="28346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5087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9A23B"/>
                </a:solidFill>
                <a:latin typeface="Calibri"/>
              </a:rPr>
              <a:t>One allergen, many names — milk alone: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874519"/>
            <a:ext cx="742492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Casein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73060" y="1874519"/>
            <a:ext cx="967435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Caseinate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50224" y="1874519"/>
            <a:ext cx="592531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Whey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52483" y="1874519"/>
            <a:ext cx="817473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Lactose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79684" y="1874519"/>
            <a:ext cx="1117396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Lactalbumin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258568"/>
            <a:ext cx="1267358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Lactoglobulin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7926" y="2258568"/>
            <a:ext cx="1117396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Milk solids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5051" y="2258568"/>
            <a:ext cx="592531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Ghee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27310" y="2258568"/>
            <a:ext cx="667512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Cream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2642615"/>
            <a:ext cx="1642262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Nonfat milk solids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2830" y="2642615"/>
            <a:ext cx="1117396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Whey powder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9955" y="2642615"/>
            <a:ext cx="967435" cy="274320"/>
          </a:xfrm>
          <a:prstGeom prst="rect">
            <a:avLst/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ECF0F7"/>
                </a:solidFill>
                <a:latin typeface="Calibri"/>
              </a:rPr>
              <a:t>Lactulose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145535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9B7CC"/>
                </a:solidFill>
                <a:latin typeface="Calibri"/>
              </a:rPr>
              <a:t>Self-advocacy means memorizing all of these — for every allergen, on every prescription,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How Bad Is It? —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From my initial data collection (openFDA drug labels) and published research.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3716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44.86%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29967"/>
            <a:ext cx="2523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oral medications containing lactose/milk/casein (n = 42,052)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3716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8132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36.58%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029967"/>
            <a:ext cx="2523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containing corn or wheat starch (n = 42,052)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8132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52.60%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29967"/>
            <a:ext cx="2523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with gluten in a 108-medication research sample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8132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20.60%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2029967"/>
            <a:ext cx="23865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with soy in the same 108-medication sample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292608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35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every 10s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584448"/>
            <a:ext cx="2523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a food-allergy reaction sends someone to the ER (3.4M/yr)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92608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035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$25B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584448"/>
            <a:ext cx="2523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annual U.S. economic burden of food allergies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926080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035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+50% ×2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3584448"/>
            <a:ext cx="2523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rise in child food-allergy prevalence (1997–2011, and again 2007–2021)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2926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303580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9A23B"/>
                </a:solidFill>
                <a:latin typeface="Calibri"/>
              </a:rPr>
              <a:t>up to 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3584448"/>
            <a:ext cx="23865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of medication allergies go unreported or undiagnosed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4709160"/>
            <a:ext cx="11521440" cy="10058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709160"/>
            <a:ext cx="64008" cy="100584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CF0F7"/>
                </a:solidFill>
                <a:latin typeface="Calibri"/>
              </a:rPr>
              <a:t>The exposure is not rare — it is routine. And it is under-recognized by patients and providers alike, because no standardized measure of allergen prevalence in medications exists. That measurement gap is where this project begins.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Current Solutions — Manual, Complex, Error-Prone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Today the entire burden of safety falls on the patient.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371600"/>
            <a:ext cx="562356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201168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Self-advocacy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F0F7"/>
                </a:solidFill>
                <a:latin typeface="Calibri"/>
              </a:rPr>
              <a:t>Patients must research every prescription themselves — across 12+ synonyms per allergen — with fragmented, unmaintained online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62356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36192"/>
            <a:ext cx="201168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Ask the manufacturer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F0F7"/>
                </a:solidFill>
                <a:latin typeface="Calibri"/>
              </a:rPr>
              <a:t>A toll-free number that rarely produces a definitive, timely answer — while the prescription waits.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337560"/>
            <a:ext cx="562356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502152"/>
            <a:ext cx="201168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EHR &amp; pharmacy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04487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F0F7"/>
                </a:solidFill>
                <a:latin typeface="Calibri"/>
              </a:rPr>
              <a:t>Do not routinely flag inactive ingredients against documented allergies at prescribing or dispensing. The data is not connected.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562356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502152"/>
            <a:ext cx="201168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The ADINA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04487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F0F7"/>
                </a:solidFill>
                <a:latin typeface="Calibri"/>
              </a:rPr>
              <a:t>Would mandate allergen labeling in medications — an important step, but not yet law, and labels alone don't check YOUR allergy list.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349240"/>
            <a:ext cx="1152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9A23B"/>
                </a:solidFill>
                <a:latin typeface="Calibri"/>
              </a:rPr>
              <a:t>Why are we doing all of this manually when the ingredient data is public, structured, and machine-readable?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Why This Is Solvable Now — The Data Already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Every ingredient of every U.S. medication is public and machine-readable. Nobody connects it to patients.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2743200" cy="16916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9A23B"/>
                </a:solidFill>
                <a:latin typeface="Calibri"/>
              </a:rPr>
              <a:t>openFDA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9B7CC"/>
                </a:solidFill>
                <a:latin typeface="Calibri"/>
              </a:rPr>
              <a:t>Complete drug labels — active &amp; inactive ingredients — updated monthly, free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63040"/>
            <a:ext cx="2743200" cy="16916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2763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9A23B"/>
                </a:solidFill>
                <a:latin typeface="Calibri"/>
              </a:rPr>
              <a:t>DailyMed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9B7CC"/>
                </a:solidFill>
                <a:latin typeface="Calibri"/>
              </a:rPr>
              <a:t>FDA Structured Product Labels (SPL) for every marketed drug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63040"/>
            <a:ext cx="2743200" cy="16916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2763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9A23B"/>
                </a:solidFill>
                <a:latin typeface="Calibri"/>
              </a:rPr>
              <a:t>RxNorm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9B7CC"/>
                </a:solidFill>
                <a:latin typeface="Calibri"/>
              </a:rPr>
              <a:t>Standardized drug naming and identifiers to unify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63040"/>
            <a:ext cx="2743200" cy="16916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62763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9A23B"/>
                </a:solidFill>
                <a:latin typeface="Calibri"/>
              </a:rPr>
              <a:t>EHR allergy 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9B7CC"/>
                </a:solidFill>
                <a:latin typeface="Calibri"/>
              </a:rPr>
              <a:t>The patient's documented allergies — already in MyChart et 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566160"/>
            <a:ext cx="11521440" cy="118872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566160"/>
            <a:ext cx="64008" cy="11887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F0F7"/>
                </a:solidFill>
                <a:latin typeface="Calibri"/>
              </a:rPr>
              <a:t>All four exist today. The missing piece is the connection: a system that reads the ingredient data, understands allergen synonyms, and checks it against the patient's own allergy list — automatically, at the moment it matters.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029200"/>
            <a:ext cx="11521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Formulations change monthly — which is why this must be a living system, not a one-time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Solution — Three Parts, 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Named for what each part does: see the problem, draw the line, bring the remedy.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66160" cy="32004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1691640"/>
            <a:ext cx="548640" cy="54864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5243E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9A23B"/>
                </a:solidFill>
                <a:latin typeface="Calibri"/>
              </a:rPr>
              <a:t>Divya Drishti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E9A23B"/>
                </a:solidFill>
                <a:latin typeface="Calibri"/>
              </a:rPr>
              <a:t>“Divine Sight”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63240"/>
            <a:ext cx="30175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CF0F7"/>
                </a:solidFill>
                <a:latin typeface="Calibri"/>
              </a:rPr>
              <a:t>SEE how bad the problem is: descriptive analysis of allergen prevalence across all FDA-approved oral medications — refreshed monthly.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3566160" cy="32004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07608" y="1691640"/>
            <a:ext cx="548640" cy="54864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5243E"/>
                </a:solidFill>
                <a:latin typeface="Calibri"/>
              </a:rP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3774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9A23B"/>
                </a:solidFill>
                <a:latin typeface="Calibri"/>
              </a:rPr>
              <a:t>Lakshmana Rekha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697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E9A23B"/>
                </a:solidFill>
                <a:latin typeface="Calibri"/>
              </a:rPr>
              <a:t>“The Protective Line”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063240"/>
            <a:ext cx="30175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CF0F7"/>
                </a:solidFill>
                <a:latin typeface="Calibri"/>
              </a:rPr>
              <a:t>STOP unsafe medicines at the point of prescribing: cross-check the patient's allergy list against every ingredient. Alert, explain, and hold the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417320"/>
            <a:ext cx="3566160" cy="32004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85248" y="1691640"/>
            <a:ext cx="548640" cy="54864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5243E"/>
                </a:solidFill>
                <a:latin typeface="Calibri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3774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9A23B"/>
                </a:solidFill>
                <a:latin typeface="Calibri"/>
              </a:rPr>
              <a:t>Sanjeevini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97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E9A23B"/>
                </a:solidFill>
                <a:latin typeface="Calibri"/>
              </a:rPr>
              <a:t>“The Remedy”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063240"/>
            <a:ext cx="30175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CF0F7"/>
                </a:solidFill>
                <a:latin typeface="Calibri"/>
              </a:rPr>
              <a:t>OFFER a safe path forward: a therapeutically equivalent, allergen-free alternative — filtered to what the patient's insurance supports.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27432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7432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937760"/>
            <a:ext cx="11521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9A23B"/>
                </a:solidFill>
                <a:latin typeface="Calibri"/>
              </a:rPr>
              <a:t>Descriptive → Prescriptive → Restorative. Each part stands alone; together they close the loop from evidence to protection to care.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Part 1 — Divya Drishti: How Bad Is the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Problem type: Descriptive Indicators. You cannot fix what you have not measured.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5852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Compute the exact percentage of current FDA-approved oral medications containing one or more of the top-9 allergens.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Mode: identify the most common culprit excipient (e.g., lactose as a binder).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Frequency distributions: which manufacturers use allergen excipients most.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Published as a monthly refreshed public report — because openFDA data and drug formulations change every month.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5349240" cy="301752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536192"/>
            <a:ext cx="155448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9834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Without a baseline, this problem stays invisible — dismissed case by case as “idiopathic.” A single credible number (“X% of oral medications contain a top-9 allergen”) gives patients, providers, advocacy groups, and policymakers something to act on. Divya Drishti is the sight that makes the invisible undeniable.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892040"/>
            <a:ext cx="11521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9B7CC"/>
                </a:solidFill>
                <a:latin typeface="Calibri"/>
              </a:rPr>
              <a:t>Data: openFDA drug labels · allergen synonym dictionary · automated monthly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Part 2 — Lakshmana Rekha: The Line No Unsafe Medicine Crosses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Problem type: Prescriptive. Stop the harm at the moment of prescribing — not after the reaction.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2194560" cy="16002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6002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9A23B"/>
                </a:solidFill>
                <a:latin typeface="Calibri"/>
              </a:rPr>
              <a:t>Patient allergy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4884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from the EHR — already documented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0116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5768" y="1463040"/>
            <a:ext cx="2194560" cy="16002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16002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9A23B"/>
                </a:solidFill>
                <a:latin typeface="Calibri"/>
              </a:rPr>
              <a:t>Prescribed medication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14884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active + inactive ingredients from openFDA/DailyMed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0116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1463040"/>
            <a:ext cx="2194560" cy="16002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2936" y="16002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9A23B"/>
                </a:solidFill>
                <a:latin typeface="Calibri"/>
              </a:rPr>
              <a:t>Rules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214884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synonym-aware cross-check — deterministic &amp; auditable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0116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7224" y="1463040"/>
            <a:ext cx="2194560" cy="16002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16002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9A23B"/>
                </a:solidFill>
                <a:latin typeface="Calibri"/>
              </a:rPr>
              <a:t>Flag &amp; 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214884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risk level + the exact offending ingredient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6" y="20116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02952" y="1463040"/>
            <a:ext cx="2194560" cy="16002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16002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9A23B"/>
                </a:solidFill>
                <a:latin typeface="Calibri"/>
              </a:rPr>
              <a:t>Human decides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214884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A9B7CC"/>
                </a:solidFill>
                <a:latin typeface="Calibri"/>
              </a:rPr>
              <a:t>pharmacist/prescriber override — always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42900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Delivered where the decision happens: EHR plugin (Epic / Cerner), pharmacy system, or standalone web/mobile check.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Deliberately rule-based at the core: for safety decisions, deterministic and auditable beats black-box — every flag can be explained.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Human-in-the-loop by design: the system informs and warns; the clinician always holds final authority.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5074920"/>
            <a:ext cx="11521440" cy="7772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074920"/>
            <a:ext cx="64008" cy="77724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3036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ECF0F7"/>
                </a:solidFill>
                <a:latin typeface="Calibri"/>
              </a:rPr>
              <a:t>In the Ramayana, the Lakshmana Rekha was a protective line that kept danger out. This is that line, drawn in software, around every allergic patient.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Part 3 — Sanjeevini: Don't Just Say No — Offer the Remedy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A stop without an alternative just moves the problem. Sanjeevini completes the care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5669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When Lakshmana Rekha flags a medication, Sanjeevini searches for a therapeutically equivalent product without the patient's allergen.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Same active ingredient, different excipients — the safe formulation often already exists.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Filtered by the patient's insurance formulary, so the alternative is affordable and actionable — not just theoretically safe.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CF0F7"/>
                </a:solidFill>
                <a:latin typeface="Calibri"/>
              </a:rPr>
              <a:t>•  Presented to the prescriber as a suggestion, never an automatic switch.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532120" cy="320040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536192"/>
            <a:ext cx="219456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Example — hypothyroid patient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6596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26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Synthroid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9B7CC"/>
                </a:solidFill>
                <a:latin typeface="Calibri"/>
              </a:rPr>
              <a:t>levothyroxine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432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Contains lactose monohydrate as an excipient — a problem for dairy-allergic patients.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51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965960"/>
            <a:ext cx="2331720" cy="1828800"/>
          </a:xfrm>
          <a:prstGeom prst="roundRect">
            <a:avLst>
              <a:gd name="adj" fmla="val 12000"/>
            </a:avLst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21031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9A23B"/>
                </a:solidFill>
                <a:latin typeface="Calibri"/>
              </a:rPr>
              <a:t>e.g., Levoxyl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42316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9B7CC"/>
                </a:solidFill>
                <a:latin typeface="Calibri"/>
              </a:rPr>
              <a:t>levothyroxine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743200"/>
            <a:ext cx="2057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Same molecule, lactose-free formulation — verified against current labeling, insurance-supported.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892040"/>
            <a:ext cx="11521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1">
                <a:solidFill>
                  <a:srgbClr val="E9A23B"/>
                </a:solidFill>
                <a:latin typeface="Calibri"/>
              </a:rPr>
              <a:t>In the Ramayana, the Sanjeevini herb saved a life because it arrived in time. The safe alternative usually exists — the system's job is to bring it to the prescriber in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Science Reality — Sources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The hard part is not the rules engine. It is making messy, monthly-changing data trustworthy.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17320"/>
            <a:ext cx="562356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210312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Heterogeneous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84248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F0F7"/>
                </a:solidFill>
                <a:latin typeface="Calibri"/>
              </a:rPr>
              <a:t>openFDA JSON, DailyMed XML/SPL, unstructured label text — one pipeline must normalize all of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62356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81912"/>
            <a:ext cx="210312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Synonym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F0F7"/>
                </a:solidFill>
                <a:latin typeface="Calibri"/>
              </a:rPr>
              <a:t>12+ names for milk alone; every top-9 allergen has aliases. A curated, versioned synonym dictionary is the core asset.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383280"/>
            <a:ext cx="562356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547872"/>
            <a:ext cx="210312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Identifier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8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F0F7"/>
                </a:solidFill>
                <a:latin typeface="Calibri"/>
              </a:rPr>
              <a:t>The same drug appears under many names and NDCs — RxNorm standardization required before any cross-check.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562356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547872"/>
            <a:ext cx="210312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Monthly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50208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F0F7"/>
                </a:solidFill>
                <a:latin typeface="Calibri"/>
              </a:rPr>
              <a:t>Formulations and labels change continuously — the pipeline must re-validate every month, or the system quietly rots.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394960"/>
            <a:ext cx="11521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This is applied data engineering in service of safety — deterministic, versioned, and auditable end to 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Success Metrics — Recall Comes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A missed allergen reaches a patient. A false alarm costs a moment of review. The metric priorities follow.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17320"/>
            <a:ext cx="3703320" cy="164592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146304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84248"/>
            <a:ext cx="3337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of allergen detection — the safety metric; false negatives are the harm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417320"/>
            <a:ext cx="3703320" cy="164592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581912"/>
            <a:ext cx="146304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84248"/>
            <a:ext cx="3337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of flags raised — protects clinician trust; too many false alarms and alerts get ignored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1417320"/>
            <a:ext cx="3703320" cy="164592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03336" y="1581912"/>
            <a:ext cx="146304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984248"/>
            <a:ext cx="3337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% of oral medications the pipeline can parse and classify each month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246120"/>
            <a:ext cx="3703320" cy="164592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10712"/>
            <a:ext cx="146304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13048"/>
            <a:ext cx="3337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every flag names the exact ingredient and source — no black boxes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3246120"/>
            <a:ext cx="3703320" cy="164592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3128" y="3410712"/>
            <a:ext cx="146304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Alternative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813048"/>
            <a:ext cx="3337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% of flagged medications for which Sanjeevini finds a formulary-supported alternative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3246120"/>
            <a:ext cx="3703320" cy="164592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03336" y="3410712"/>
            <a:ext cx="146304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Freshness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813048"/>
            <a:ext cx="3337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days between openFDA update and system re-validation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257800"/>
            <a:ext cx="11521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9B7CC"/>
                </a:solidFill>
                <a:latin typeface="Calibri"/>
              </a:rPr>
              <a:t>Same evaluation discipline as my other projects: a golden dataset, hand-verified labels, and honest reporting of misses.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Named early, managed deliberately — a plan is only credible with its risks attached.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371600"/>
            <a:ext cx="11521440" cy="10058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99616"/>
            <a:ext cx="173736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Data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48132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The system inherits openFDA/DailyMed quality and update cadence.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81328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7CC"/>
                </a:solidFill>
                <a:latin typeface="Calibri"/>
              </a:rPr>
              <a:t>Mitigation: Monthly re-validation; freshness metric; multi-source cross-checks.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487168"/>
            <a:ext cx="11521440" cy="10058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173736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Synonym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968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A missing alias = a missed allergen = patient harm.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596896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7CC"/>
                </a:solidFill>
                <a:latin typeface="Calibri"/>
              </a:rPr>
              <a:t>Mitigation: Curated dictionary validated against research lists; recall-first evaluation; continuous additions.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02736"/>
            <a:ext cx="11521440" cy="10058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30752"/>
            <a:ext cx="173736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Clinical 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712463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Decision support must never impersonate medical advice.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712463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7CC"/>
                </a:solidFill>
                <a:latin typeface="Calibri"/>
              </a:rPr>
              <a:t>Mitigation: Human-in-the-loop always: flags inform, clinicians decide; explicit not-medical-advice scope.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718304"/>
            <a:ext cx="11521440" cy="10058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846320"/>
            <a:ext cx="1737360" cy="274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Scope 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828032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Rule-based core may be judged 'not ML enough' academically.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828032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9B7CC"/>
                </a:solidFill>
                <a:latin typeface="Calibri"/>
              </a:rPr>
              <a:t>Mitigation: Deliberate choice, stated proudly: for safety, deterministic and auditable is the feature.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Extensibility — One Engine, Many Protections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The same synonym-aware labelling engine extends far beyond the top-9 allergens.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17320"/>
            <a:ext cx="370332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Celiac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3337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Gluten hides in medications too — same detection, different dictionary.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417320"/>
            <a:ext cx="370332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5544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Alpha-gal syndrome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20240"/>
            <a:ext cx="3337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Gelatin capsules and mammalian-derived excipients — a growing, underserved population.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1417320"/>
            <a:ext cx="370332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55448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Vegan &amp; religious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920240"/>
            <a:ext cx="3337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Gelatin, lactose, and animal-derived ingredients matter to millions beyond allergy.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383280"/>
            <a:ext cx="370332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Pediatric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3337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Children's formulations and dosing intersect with the same excipient risks.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3383280"/>
            <a:ext cx="370332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352044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Akshaya Patra synergy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886200"/>
            <a:ext cx="3337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Food labels and drug labels are sibling problems — one family of labelling engines, shared synonym infrastructure.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3383280"/>
            <a:ext cx="3703320" cy="178308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3520440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Policy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886200"/>
            <a:ext cx="3337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Divya Drishti's monthly numbers give the ADINA Act's advocates the evidence base they currently lack.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554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Roadmap — MADS Milestones to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61722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6868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Phased like everything I run: one current focus, gates between phases, parked scope stays parked.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Ushasree Jakilinki  ·  UofM MADS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1052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Sanjeevini Aushad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54480"/>
            <a:ext cx="2743200" cy="2377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19072"/>
            <a:ext cx="868680" cy="25603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9A23B"/>
                </a:solidFill>
                <a:latin typeface="Calibri"/>
              </a:rPr>
              <a:t>M1 — Divya Drishti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2377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openFDA download · synonym dictionary v1 · prevalence analysis · first monthly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468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554480"/>
            <a:ext cx="2743200" cy="2377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719072"/>
            <a:ext cx="868680" cy="25603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03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9A23B"/>
                </a:solidFill>
                <a:latin typeface="Calibri"/>
              </a:rPr>
              <a:t>M2 — Lakshmana Rekha 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97480"/>
            <a:ext cx="2377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Rules engine · golden dataset evaluation (recall-first) · user flow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2468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54480"/>
            <a:ext cx="2743200" cy="2377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719072"/>
            <a:ext cx="868680" cy="25603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9A23B"/>
                </a:solidFill>
                <a:latin typeface="Calibri"/>
              </a:rPr>
              <a:t>Capstone — Sanjeevini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97480"/>
            <a:ext cx="2377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Alternatives engine · formulary filtering · end-to-end demo with pharmacist-override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468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554480"/>
            <a:ext cx="2743200" cy="23774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19" y="1719072"/>
            <a:ext cx="868680" cy="25603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103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9A23B"/>
                </a:solidFill>
                <a:latin typeface="Calibri"/>
              </a:rPr>
              <a:t>Beyond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697480"/>
            <a:ext cx="2377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EHR (Epic/Cerner) integration · partner pilots (FARE, Beyond Celiac) · clinical validation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297680"/>
            <a:ext cx="11521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Status: research &amp; problem formulation complete (SIADS 501) · openFDA data acquired · M1 analysis in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846320"/>
            <a:ext cx="11521440" cy="1005840"/>
          </a:xfrm>
          <a:prstGeom prst="roundRect">
            <a:avLst>
              <a:gd name="adj" fmla="val 12000"/>
            </a:avLst>
          </a:prstGeom>
          <a:solidFill>
            <a:srgbClr val="1E3052"/>
          </a:solidFill>
          <a:ln w="9525">
            <a:solidFill>
              <a:srgbClr val="2C4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846320"/>
            <a:ext cx="64008" cy="100584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CF0F7"/>
                </a:solidFill>
                <a:latin typeface="Calibri"/>
              </a:rPr>
              <a:t>Support I'm seeking: clinical advisors (allergy/immunology), pharmacy database access, and patients willing to test — conversations open with FARE and Beyond Celiac.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SANJEEVINI AUSHAD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9A23B"/>
                </a:solidFill>
                <a:latin typeface="Calibri"/>
              </a:rPr>
              <a:t>See the problem. Draw the line. Bring the remedy —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 patient should spend four months and $30,000 discovering what their own records already knew. The data exists. The connection is the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Ushasree Jakilinki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linkedin.com/in/ushasreejakilinki  ·  github.com/auj012  ·  ushajaki@med.umich.edu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E9A23B"/>
                </a:solidFill>
                <a:latin typeface="Calibri"/>
              </a:rPr>
              <a:t>Questions &amp; collaboration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